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F4E79"/>
    <a:srgbClr val="3366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26" d="100"/>
          <a:sy n="126" d="100"/>
        </p:scale>
        <p:origin x="202" y="-30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440080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yourself, the paper, the year. Then transition into the hook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HOOK. Ask the room, let them raise hands. Almost everyone will. Then say: 'Good. Now imagine we tried to build a computer system that describes each of you. That is way harder than it sounds — and it is exactly what this paper is about.'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up the problem in plain language, no jargon yet. Use the hook you just did — 'you all raised your hands, you all play multiple roles.' That's where the problem starts.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INTERACTION. Ask the room to think. Let a few people answer. Someone will say 'contradiction' or 'both at once' or similar. Then move to the next slide to reveal.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Reveal the contradiction. Confirm what the audience said if someone got it right. Then transition: 'So how do we fix this? Benzon's answer is on the next slide.'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Now the core idea. Paradigmatic tree = standard 'isa' — properties flow DOWN. Assignment tree = ontological level — properties flow UP. These two are orthogonal, they work independently. Give them a moment.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Visualize the fix. George is a human being. Roles are assigned to him. He performs them. He doesn't INHERIT their properties. So no contradiction. Talk slowly here — this is the payoff.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framework isn't just about people. Same trick works for objects. Apples and beef have nothing biologically in common but are both food. Solved by functional paradigm — food is a role, not a substance.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INTERACTION. Hands up for each. Most people vote caterpillar because it's visually dramatic. Then reveal Benzon's counterintuitive answer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Reveal the answer. Caterpillar is paradigmatic — same creature, different form. Expulsion is ontological — a layer of what you ARE is stripped away. This is the counterintuitive insight. Emphasize this is Benzon's framework talking, not everyday intuition.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pattern as object → plant → animal → human, but for engineering. Each layer adds something fundamental.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Machining changes shape but not substance — paradigmatic. Assembly brings something new into being — ontological. Then the two Worlds. Move quickly here — you have 4-5 minutes for this section.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Salt vs sodium chloride — same stuff, different mental framework. Benzon's philosophical payoff: scientific revolutions are ontology construction. This is his response to Kuhn.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positives before critique. Shows you engaged seriously.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INTERACTION. Let the room vote. Then say: 'Interesting. Here is what I think — and let me tell you why.' Move to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Your strongest critique. Cite the research: LLMs pattern match, not reason formally. In high-stakes domains this matters. Not solved — bypassed.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FINAL. Deliver the open question slowly. Look at Benzon directly. Let the silence sit after. Then thank the room.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463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Ontology in Knowledge Representation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200400" y="2240280"/>
            <a:ext cx="2743200" cy="0"/>
          </a:xfrm>
          <a:prstGeom prst="line">
            <a:avLst/>
          </a:prstGeom>
          <a:noFill/>
          <a:ln w="254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William L. Benzon (1985)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14400" y="2926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framework for representing categorical knowledge using two orthogonal structures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Enea Naco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PAMI Seminar SS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we start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of you play more than one role in your life?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 ·  child  ·  sibling  ·  friend  ·  employee  ·  partner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(raise your hand)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0" y="48463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17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097280" cy="0"/>
          </a:xfrm>
          <a:prstGeom prst="line">
            <a:avLst/>
          </a:prstGeom>
          <a:noFill/>
          <a:ln w="254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classification is harder than it looks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78638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naturally categorize the world:</a:t>
            </a: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5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dog is an animal, an apple is a fruit, a car is a vehicle</a:t>
            </a: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works for simple structures where things fit neatly into a category</a:t>
            </a: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people for example don't fit neatly. A person is not only what he biologically is but also plays multiple roles.</a:t>
            </a: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mismatch between biology and roles is where classic knowledge representation breaks down.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0" y="48463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17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George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George is both a teacher and a son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914400" y="2103120"/>
            <a:ext cx="3200400" cy="1097280"/>
          </a:xfrm>
          <a:prstGeom prst="roundRect">
            <a:avLst>
              <a:gd name="adj" fmla="val 6667"/>
            </a:avLst>
          </a:prstGeom>
          <a:solidFill>
            <a:schemeClr val="bg1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 dirty="0">
              <a:highlight>
                <a:srgbClr val="FFFF00"/>
              </a:highlight>
            </a:endParaRPr>
          </a:p>
        </p:txBody>
      </p:sp>
      <p:sp>
        <p:nvSpPr>
          <p:cNvPr id="7" name="Text 5"/>
          <p:cNvSpPr/>
          <p:nvPr/>
        </p:nvSpPr>
        <p:spPr>
          <a:xfrm>
            <a:off x="914400" y="210312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</a:t>
            </a:r>
            <a:endParaRPr lang="en-US" sz="1400" b="1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has authority -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0" y="2103120"/>
            <a:ext cx="3200400" cy="1097280"/>
          </a:xfrm>
          <a:prstGeom prst="roundRect">
            <a:avLst>
              <a:gd name="adj" fmla="val 6667"/>
            </a:avLst>
          </a:prstGeom>
          <a:solidFill>
            <a:schemeClr val="bg1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0" y="210312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submits to authority -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i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if we put both in one hierarchy?</a:t>
            </a:r>
            <a:endParaRPr lang="en-US" sz="2000" dirty="0">
              <a:solidFill>
                <a:srgbClr val="1F4E79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8229600" y="48463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17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Contradiction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097280" cy="0"/>
          </a:xfrm>
          <a:prstGeom prst="line">
            <a:avLst/>
          </a:prstGeom>
          <a:noFill/>
          <a:ln w="254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hierarchy implies that George is two contradictory things at once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011680" y="1737360"/>
            <a:ext cx="53873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single hierarchy, George inherits everything from both roles.</a:t>
            </a:r>
            <a:endParaRPr lang="en-US" sz="1500" dirty="0"/>
          </a:p>
          <a:p>
            <a:pPr marL="0" indent="0" algn="ctr">
              <a:buNone/>
            </a:pP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would be both authoritative and submissive at the same time.</a:t>
            </a:r>
            <a:endParaRPr lang="en-US" sz="1500" dirty="0">
              <a:solidFill>
                <a:srgbClr val="1F4E79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a logical contradiction. A classic inheritance system cannot represent it correctly.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Benzon proposes the following fix.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0" y="48463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17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Fix: Two Trees Instead of One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097280" cy="0"/>
          </a:xfrm>
          <a:prstGeom prst="line">
            <a:avLst/>
          </a:prstGeom>
          <a:noFill/>
          <a:ln w="254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structures that work independently, in opposite directions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384048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Paradigmatic Tree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"is a" hierarchy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dog → beast → animal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Properties flow downward: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i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dog has four legs because a beast has four legs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754880" y="1463040"/>
            <a:ext cx="384048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Tree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what kind of being something is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→ plant → animal → human → social person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Properties flow upward: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i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animals can feel hungry, humans can too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0" y="48463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17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this solves the George example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097280" cy="0"/>
          </a:xfrm>
          <a:prstGeom prst="line">
            <a:avLst/>
          </a:prstGeom>
          <a:noFill/>
          <a:ln w="254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and roles are now separate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0" y="1371600"/>
            <a:ext cx="1828800" cy="731520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0" y="13716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George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0" y="2103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 human being)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181600" y="2065020"/>
            <a:ext cx="1219200" cy="1135380"/>
          </a:xfrm>
          <a:prstGeom prst="line">
            <a:avLst/>
          </a:prstGeom>
          <a:noFill/>
          <a:ln w="12700">
            <a:solidFill>
              <a:srgbClr val="666666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103120" y="3200400"/>
            <a:ext cx="1645920" cy="640080"/>
          </a:xfrm>
          <a:prstGeom prst="roundRect">
            <a:avLst>
              <a:gd name="adj" fmla="val 7143"/>
            </a:avLst>
          </a:prstGeom>
          <a:solidFill>
            <a:schemeClr val="bg1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103120" y="320040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394960" y="3200400"/>
            <a:ext cx="1645920" cy="640080"/>
          </a:xfrm>
          <a:prstGeom prst="roundRect">
            <a:avLst>
              <a:gd name="adj" fmla="val 7143"/>
            </a:avLst>
          </a:prstGeom>
          <a:solidFill>
            <a:schemeClr val="bg1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394960" y="320040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are ASSIGNED to George, not inherited.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performs them in different contexts. His identity stays the same.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29600" y="48463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17</a:t>
            </a:r>
            <a:endParaRPr lang="en-US" sz="1000" dirty="0"/>
          </a:p>
        </p:txBody>
      </p:sp>
      <p:sp>
        <p:nvSpPr>
          <p:cNvPr id="17" name="Shape 7">
            <a:extLst>
              <a:ext uri="{FF2B5EF4-FFF2-40B4-BE49-F238E27FC236}">
                <a16:creationId xmlns:a16="http://schemas.microsoft.com/office/drawing/2014/main" id="{54420318-1990-FBB7-C27E-A2FF765909D5}"/>
              </a:ext>
            </a:extLst>
          </p:cNvPr>
          <p:cNvSpPr/>
          <p:nvPr/>
        </p:nvSpPr>
        <p:spPr>
          <a:xfrm flipH="1">
            <a:off x="3078480" y="2026920"/>
            <a:ext cx="967740" cy="1173480"/>
          </a:xfrm>
          <a:prstGeom prst="line">
            <a:avLst/>
          </a:prstGeom>
          <a:noFill/>
          <a:ln w="12700">
            <a:solidFill>
              <a:srgbClr val="666666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Another example: Food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097280" cy="0"/>
          </a:xfrm>
          <a:prstGeom prst="line">
            <a:avLst/>
          </a:prstGeom>
          <a:noFill/>
          <a:ln w="254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logic works for other things, not just humans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786384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Apples and beef are both food.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apples come from plants, beef from animals. There is no shared biological parent.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fix: food is not a biological category. It's a functional one.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i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apple becomes food by being assigned a role in an eating event.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Substantive paradigms (what something is):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plant, animal, object, human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paradigms (what role something plays):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food, tool, toy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0" y="48463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17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is the deeper change?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645920"/>
            <a:ext cx="3657600" cy="2286000"/>
          </a:xfrm>
          <a:prstGeom prst="roundRect">
            <a:avLst>
              <a:gd name="adj" fmla="val 4000"/>
            </a:avLst>
          </a:prstGeom>
          <a:solidFill>
            <a:schemeClr val="bg1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645920"/>
            <a:ext cx="3657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  <a:p>
            <a:pPr marL="0" indent="0" algn="ctr">
              <a:buNone/>
            </a:pPr>
            <a:endParaRPr lang="en-US" sz="13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caterpillar</a:t>
            </a:r>
            <a:endParaRPr lang="en-US" sz="2000" b="1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into</a:t>
            </a:r>
            <a:endParaRPr lang="en-US" sz="2000" b="1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butterfly</a:t>
            </a:r>
            <a:endParaRPr lang="en-US" sz="2000" b="1" dirty="0"/>
          </a:p>
        </p:txBody>
      </p:sp>
      <p:sp>
        <p:nvSpPr>
          <p:cNvPr id="7" name="Shape 5"/>
          <p:cNvSpPr/>
          <p:nvPr/>
        </p:nvSpPr>
        <p:spPr>
          <a:xfrm>
            <a:off x="4846320" y="1645920"/>
            <a:ext cx="3657600" cy="2286000"/>
          </a:xfrm>
          <a:prstGeom prst="roundRect">
            <a:avLst>
              <a:gd name="adj" fmla="val 4000"/>
            </a:avLst>
          </a:prstGeom>
          <a:solidFill>
            <a:schemeClr val="bg1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846320" y="1645920"/>
            <a:ext cx="3657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00" dirty="0"/>
          </a:p>
          <a:p>
            <a:pPr marL="0" indent="0" algn="ctr">
              <a:buNone/>
            </a:pPr>
            <a:endParaRPr lang="en-US" sz="13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student</a:t>
            </a:r>
            <a:endParaRPr lang="en-US" sz="2000" b="1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expelled</a:t>
            </a:r>
            <a:endParaRPr lang="en-US" sz="2000" b="1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university</a:t>
            </a:r>
            <a:endParaRPr lang="en-US" sz="2000" b="1" dirty="0"/>
          </a:p>
        </p:txBody>
      </p:sp>
      <p:sp>
        <p:nvSpPr>
          <p:cNvPr id="9" name="Text 7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(raise your hand)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0" y="48463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17</a:t>
            </a:r>
            <a:endParaRPr lang="en-US" sz="1000" dirty="0"/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D968F092-F787-85A5-F1AA-8240174A9080}"/>
              </a:ext>
            </a:extLst>
          </p:cNvPr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(Think in terms of classification)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Types of Change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097280" cy="0"/>
          </a:xfrm>
          <a:prstGeom prst="line">
            <a:avLst/>
          </a:prstGeom>
          <a:noFill/>
          <a:ln w="254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is the deeper one. Here's why.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69620" y="1280160"/>
            <a:ext cx="384048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Paradigmatic transition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changes, identity stays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caterpillar and butterfly are the same underlying creature, same identity just different shape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i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Dramatic change to look at, but ontologically simpler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754880" y="1463040"/>
            <a:ext cx="39319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Ontological transition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structure itself changes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expelled removes a whole layer of what you are: the student role, your ID, your library access, student privileges etc.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Composition = a layer added (getting a job, marriage)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Decomposition = a layer removed (expulsion, divorce)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0" y="48463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17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CIMWorld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097280" cy="0"/>
          </a:xfrm>
          <a:prstGeom prst="line">
            <a:avLst/>
          </a:prstGeom>
          <a:noFill/>
          <a:ln w="254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Applying the framework to an automated factory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786384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knowledge representation model for an automated factory, built at RPI in the 1980s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Benzon uses the assignment tree to structure factory objects into ontological layers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→ Assembly → Mechanism → Engine → Computer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Object: has substance, surface, shape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Assembly: a joint of objects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Mechanism: an assembly plus motion/ability (rotation, sliding)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Engine: a mechanism plus its own power source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Computer: an assembly plus a program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0" y="48463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17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Factory Processes, Two Kinds of Change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097280" cy="0"/>
          </a:xfrm>
          <a:prstGeom prst="line">
            <a:avLst/>
          </a:prstGeom>
          <a:noFill/>
          <a:ln w="254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Machining vs assembly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786384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Machining = paradigmatic transition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cut a piece of metal into a new shape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i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Substance stays the same, shape changes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Assembly = ontological transition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join parts together into something new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i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imaginary connectivity becomes real, and the assembly comes into being</a:t>
            </a:r>
          </a:p>
          <a:p>
            <a:pPr marL="0" indent="0">
              <a:spcAft>
                <a:spcPts val="400"/>
              </a:spcAft>
              <a:buNone/>
            </a:pPr>
            <a:endParaRPr lang="en-US" sz="1200" i="1" dirty="0">
              <a:solidFill>
                <a:srgbClr val="22222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spcAft>
                <a:spcPts val="300"/>
              </a:spcAft>
            </a:pPr>
            <a:r>
              <a:rPr lang="en-US" sz="1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</a:t>
            </a:r>
            <a:r>
              <a:rPr lang="en-US" sz="1200" b="1" dirty="0" err="1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CIMWorld</a:t>
            </a:r>
            <a:r>
              <a:rPr lang="en-US" sz="1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everything is split into two worlds: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 err="1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PhysWorld</a:t>
            </a: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physical objects, machining, assembly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InfoWorld: programs, data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Computers and robots exist on both. They are physical objects that run software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0" y="48463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17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or </a:t>
            </a:r>
            <a:r>
              <a:rPr lang="en-US" sz="2800" b="1" dirty="0">
                <a:solidFill>
                  <a:srgbClr val="1F4E79"/>
                </a:solidFill>
              </a:rPr>
              <a:t>H₂O</a:t>
            </a:r>
            <a:r>
              <a:rPr lang="en-US" sz="2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097280" cy="0"/>
          </a:xfrm>
          <a:prstGeom prst="line">
            <a:avLst/>
          </a:prstGeom>
          <a:noFill/>
          <a:ln w="254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thing can live in different ontologies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758952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400"/>
              </a:spcAft>
            </a:pPr>
            <a:r>
              <a:rPr lang="en-US" sz="1200" dirty="0"/>
              <a:t>Physically, water and H₂O are the same substance.</a:t>
            </a:r>
            <a:br>
              <a:rPr lang="en-US" sz="1200" dirty="0"/>
            </a:br>
            <a:r>
              <a:rPr lang="en-US" sz="1200" i="1" dirty="0"/>
              <a:t>But they live in completely different mental frameworks.</a:t>
            </a:r>
          </a:p>
          <a:p>
            <a:pPr>
              <a:spcAft>
                <a:spcPts val="400"/>
              </a:spcAft>
            </a:pP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/>
              <a:t>"Water" is a clear liquid you drink, cook with, swim in (everyday knowledge) </a:t>
            </a:r>
          </a:p>
          <a:p>
            <a:pPr marL="342900" indent="-342900">
              <a:spcAft>
                <a:spcPts val="400"/>
              </a:spcAft>
              <a:buSzPct val="100000"/>
              <a:buFontTx/>
              <a:buChar char="•"/>
            </a:pPr>
            <a:r>
              <a:rPr lang="en-US" sz="1200" dirty="0"/>
              <a:t>"H₂O" means two hydrogens bonded to an oxygen, </a:t>
            </a: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lives in chemistry as atoms, molecules, abstract structure</a:t>
            </a:r>
            <a:endParaRPr lang="en-US" sz="1200" dirty="0"/>
          </a:p>
          <a:p>
            <a:pPr>
              <a:spcAft>
                <a:spcPts val="300"/>
              </a:spcAft>
              <a:buSzPct val="100000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extension but different </a:t>
            </a:r>
            <a:r>
              <a:rPr lang="en-US" sz="1200" dirty="0" err="1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prupose</a:t>
            </a: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Novices and experts have different ontologies	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endParaRPr lang="en-US" sz="1200" dirty="0"/>
          </a:p>
          <a:p>
            <a:pPr>
              <a:spcAft>
                <a:spcPts val="400"/>
              </a:spcAft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Benzon's claim: </a:t>
            </a:r>
            <a:r>
              <a:rPr lang="en-US" sz="1200" dirty="0"/>
              <a:t>Scientific revolutions occur as ontology swaps where the old framework couldn't explain certain things and the new one can.</a:t>
            </a:r>
          </a:p>
        </p:txBody>
      </p:sp>
      <p:sp>
        <p:nvSpPr>
          <p:cNvPr id="6" name="Text 4"/>
          <p:cNvSpPr/>
          <p:nvPr/>
        </p:nvSpPr>
        <p:spPr>
          <a:xfrm>
            <a:off x="8229600" y="48463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17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Framework Gets Right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097280" cy="0"/>
          </a:xfrm>
          <a:prstGeom prst="line">
            <a:avLst/>
          </a:prstGeom>
          <a:noFill/>
          <a:ln w="254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 of the approach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786384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a real problem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hierarchies fail for entities with multiple roles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Cleanly separates identity from role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can change without breaking underlying identity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Generalizes across domains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for social structure, engineering, science, literature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relevant 40 years later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sensitivity domains still need formal reasoning that LLMs cannot provide reliably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0" y="48463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17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question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you think today's LLMs solved Benzon's problem?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1371600" y="2926080"/>
            <a:ext cx="2743200" cy="9144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371600" y="292608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YES, solved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029200" y="2926080"/>
            <a:ext cx="2743200" cy="9144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0" y="292608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NO, sidestepped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(raise your hand)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0" y="48463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17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Take: They Sidestepped It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097280" cy="0"/>
          </a:xfrm>
          <a:prstGeom prst="line">
            <a:avLst/>
          </a:prstGeom>
          <a:noFill/>
          <a:ln w="254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Fluent on the surface, but no explicit structure underneath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786384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handle ontological distinctions fluently in conversation and they sound like they understand it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they have no explicit ontological structure, only statistical patterns learned from data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research shows that LLMs are not capable of genuine formal reasoning, they rely on pattern matching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formal tasks like maths or knowledge graph reasoning, performance drops noticeably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sometimes get it right, sometimes they do not and this can be a big problem in some cases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high sensitivity domains like medicine, law or manufacturing, unreliable reasoning is not good enough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b="1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Benzon identified is not solved but it was bypassed in a different way that has its own limitations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0" y="48463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17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Does This Leave Us?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097280" cy="0"/>
          </a:xfrm>
          <a:prstGeom prst="line">
            <a:avLst/>
          </a:prstGeom>
          <a:noFill/>
          <a:ln w="254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and an open question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78638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Benzon identified a real problem in 1985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years later, we have two imperfect workarounds: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Hardcoded systems: reliable but inflexible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LLMs: flexible but unreliable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 is what Benzon proposed. The problem may be solved or just bypassed depending on how you see it.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08755" y="3337560"/>
            <a:ext cx="8229600" cy="128016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r>
              <a:rPr lang="en-US" b="1" dirty="0">
                <a:solidFill>
                  <a:srgbClr val="1F4E79"/>
                </a:solidFill>
              </a:rPr>
              <a:t>My Takeaway:</a:t>
            </a:r>
          </a:p>
        </p:txBody>
      </p:sp>
      <p:sp>
        <p:nvSpPr>
          <p:cNvPr id="8" name="Text 6"/>
          <p:cNvSpPr/>
          <p:nvPr/>
        </p:nvSpPr>
        <p:spPr>
          <a:xfrm>
            <a:off x="505645" y="378386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/>
              <a:t>Before reading it, I assumed LLMs handle knowledge representation. Now I see it as an open question, whether they actually understand ontological structure, or just imitate it convincingly.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0" y="48463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</TotalTime>
  <Words>1789</Words>
  <Application>Microsoft Office PowerPoint</Application>
  <PresentationFormat>On-screen Show (16:9)</PresentationFormat>
  <Paragraphs>219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Ontology in Knowledge Representation</dc:title>
  <dc:subject>PptxGenJS Presentation</dc:subject>
  <dc:creator>Enea Naco</dc:creator>
  <cp:lastModifiedBy>6aafo94bax@goetheuniversitaet.onmicrosoft.com</cp:lastModifiedBy>
  <cp:revision>2</cp:revision>
  <dcterms:created xsi:type="dcterms:W3CDTF">2026-07-08T14:32:05Z</dcterms:created>
  <dcterms:modified xsi:type="dcterms:W3CDTF">2026-07-08T18:32:46Z</dcterms:modified>
</cp:coreProperties>
</file>